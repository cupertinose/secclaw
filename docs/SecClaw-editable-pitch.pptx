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0233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796F"/>
                </a:solidFill>
                <a:latin typeface="Noto Sans"/>
              </a:defRPr>
            </a:pPr>
            <a:r>
              <a:t>SECURITY, WITH A SAFETY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5669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2237"/>
                </a:solidFill>
                <a:latin typeface="Noto Sans"/>
              </a:defRPr>
            </a:pPr>
            <a:r>
              <a:t>SecClaw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27632"/>
            <a:ext cx="55778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237"/>
                </a:solidFill>
                <a:latin typeface="Noto Sans"/>
              </a:defRPr>
            </a:pPr>
            <a:r>
              <a:t>Local security operations that can explain, ask, act, and 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461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36075"/>
                </a:solidFill>
                <a:latin typeface="Noto Sans"/>
              </a:defRPr>
            </a:pPr>
            <a:r>
              <a:t>Dell × NVIDIA AI Hackathon  •  San Francisco  • 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95928"/>
            <a:ext cx="5486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123944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237"/>
                </a:solidFill>
                <a:latin typeface="Noto Sans"/>
              </a:defRPr>
            </a:pPr>
            <a:r>
              <a:t>Built for enterprise IT and SecOps teams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237"/>
                </a:solidFill>
                <a:latin typeface="Noto Sans"/>
              </a:defRPr>
            </a:pPr>
            <a:r>
              <a:t>All inference runs locally on the GB10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685800"/>
            <a:ext cx="2240280" cy="4023360"/>
          </a:xfrm>
          <a:prstGeom prst="roundRect">
            <a:avLst/>
          </a:prstGeom>
          <a:solidFill>
            <a:srgbClr val="E2F5F0"/>
          </a:solidFill>
          <a:ln w="12700">
            <a:solidFill>
              <a:srgbClr val="B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289304"/>
            <a:ext cx="17373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1796F"/>
                </a:solidFill>
                <a:latin typeface="Noto Sans"/>
              </a:defRPr>
            </a:pPr>
            <a:r>
              <a:t>GB10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2212848"/>
            <a:ext cx="1691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237"/>
                </a:solidFill>
                <a:latin typeface="Noto Sans"/>
              </a:defRPr>
            </a:pPr>
            <a:r>
              <a:t>Local AI.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237"/>
                </a:solidFill>
                <a:latin typeface="Noto Sans"/>
              </a:defRPr>
            </a:pPr>
            <a:r>
              <a:t>Human authority.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237"/>
                </a:solidFill>
                <a:latin typeface="Noto Sans"/>
              </a:defRPr>
            </a:pPr>
            <a:r>
              <a:t>Verifiable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237"/>
                </a:solidFill>
                <a:latin typeface="Noto Sans"/>
              </a:defRPr>
            </a:pPr>
            <a:r>
              <a:t>Security teams are stuck between speed and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9844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2646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36075"/>
                </a:solidFill>
                <a:latin typeface="Noto Sans"/>
              </a:defRPr>
            </a:pPr>
            <a:r>
              <a:t>Sensitive infrastructure data should stay on site. Remediation needs explicit authorization.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2185416"/>
            <a:ext cx="264261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2313432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633472"/>
            <a:ext cx="23500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237"/>
                </a:solidFill>
                <a:latin typeface="Noto Sans"/>
              </a:defRPr>
            </a:pPr>
            <a:r>
              <a:t>Blind spots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200400"/>
            <a:ext cx="2350008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36075"/>
                </a:solidFill>
                <a:latin typeface="Noto Sans"/>
              </a:defRPr>
            </a:pPr>
            <a:r>
              <a:t>Small IT teams cannot continuously inspect every internal device and exposed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5264" y="2185416"/>
            <a:ext cx="264261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2313432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633472"/>
            <a:ext cx="23500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237"/>
                </a:solidFill>
                <a:latin typeface="Noto Sans"/>
              </a:defRPr>
            </a:pPr>
            <a:r>
              <a:t>Cloud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3200400"/>
            <a:ext cx="2350008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36075"/>
                </a:solidFill>
                <a:latin typeface="Noto Sans"/>
              </a:defRPr>
            </a:pPr>
            <a:r>
              <a:t>Topology, versions, findings, and conversations are too sensitive for remote LLM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2185416"/>
            <a:ext cx="264261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13432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33472"/>
            <a:ext cx="23500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237"/>
                </a:solidFill>
                <a:latin typeface="Noto Sans"/>
              </a:defRPr>
            </a:pPr>
            <a:r>
              <a:t>Unsafe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00400"/>
            <a:ext cx="2350008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36075"/>
                </a:solidFill>
                <a:latin typeface="Noto Sans"/>
              </a:defRPr>
            </a:pPr>
            <a:r>
              <a:t>A plausible suggestion is not permission to change production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SECClaw live product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237"/>
                </a:solidFill>
                <a:latin typeface="Noto Sans"/>
              </a:defRPr>
            </a:pPr>
            <a:r>
              <a:t>Unified Security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9844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234440"/>
            <a:ext cx="3950208" cy="3621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-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25880"/>
            <a:ext cx="3767328" cy="3438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36592" y="1481328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148132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19 unique devices consolidated in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432304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432304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Live exposure and scan coverage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3383280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33832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One inventory shared across every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9744" y="4535424"/>
            <a:ext cx="3785615" cy="356616"/>
          </a:xfrm>
          <a:prstGeom prst="roundRect">
            <a:avLst/>
          </a:prstGeom>
          <a:solidFill>
            <a:srgbClr val="E2F6F7"/>
          </a:solidFill>
          <a:ln w="12700">
            <a:solidFill>
              <a:srgbClr val="E2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460857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1796F"/>
                </a:solidFill>
                <a:latin typeface="Noto Sans"/>
              </a:defRPr>
            </a:pPr>
            <a:r>
              <a:t>LOCAL FIRST  •  POLICY GOVERNED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237"/>
                </a:solidFill>
                <a:latin typeface="Noto Sans"/>
              </a:defRPr>
            </a:pPr>
            <a:r>
              <a:t>Let SecClaw watch the risk while humans keep the authority.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57276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84248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237"/>
                </a:solidFill>
                <a:latin typeface="Noto Sans"/>
              </a:defRPr>
            </a:pPr>
            <a:r>
              <a:t>Built today on Dell Pro Max with GB10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9464"/>
            <a:ext cx="81381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36075"/>
                </a:solidFill>
                <a:latin typeface="Noto Sans"/>
              </a:defRPr>
            </a:pPr>
            <a:r>
              <a:t>gpt-oss-120b  •  vLLM  •  OpenShell  •  Next.js  •  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93008"/>
            <a:ext cx="81381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3767328"/>
            <a:ext cx="7589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796F"/>
                </a:solidFill>
                <a:latin typeface="Noto Sans"/>
              </a:defRPr>
            </a:pPr>
            <a:r>
              <a:t>github.com/cupertinose/SecClaw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237"/>
                </a:solidFill>
                <a:latin typeface="Noto Sans"/>
              </a:defRPr>
            </a:pPr>
            <a:r>
              <a:t>Discover. Explain. Approve. Act. Verify.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9844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2646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36075"/>
                </a:solidFill>
                <a:latin typeface="Noto Sans"/>
              </a:defRPr>
            </a:pPr>
            <a:r>
              <a:t>SecClaw turns observations into controlled action, with local reasoning on GB10.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2194560"/>
            <a:ext cx="1609344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23682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796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852928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72237"/>
                </a:solidFill>
                <a:latin typeface="Noto San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3319272"/>
            <a:ext cx="136245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536075"/>
                </a:solidFill>
                <a:latin typeface="Noto Sans"/>
              </a:defRPr>
            </a:pPr>
            <a:r>
              <a:t>Fixed, scoped scans and mDNS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5415" y="2194560"/>
            <a:ext cx="1609344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7" y="23682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796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7" y="2852928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72237"/>
                </a:solidFill>
                <a:latin typeface="Noto Sans"/>
              </a:defRPr>
            </a:pPr>
            <a:r>
              <a:t>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7" y="3319272"/>
            <a:ext cx="136245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536075"/>
                </a:solidFill>
                <a:latin typeface="Noto Sans"/>
              </a:defRPr>
            </a:pPr>
            <a:r>
              <a:t>Evidence grounded local risk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194560"/>
            <a:ext cx="1609344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1" y="23682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796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1" y="2852928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72237"/>
                </a:solidFill>
                <a:latin typeface="Noto Sans"/>
              </a:defRPr>
            </a:pPr>
            <a:r>
              <a:t>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1" y="3319272"/>
            <a:ext cx="136245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536075"/>
                </a:solidFill>
                <a:latin typeface="Noto Sans"/>
              </a:defRPr>
            </a:pPr>
            <a:r>
              <a:t>Human decision bound to a plan hash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8423" y="2194560"/>
            <a:ext cx="1609344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5" y="23682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796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5" y="2852928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72237"/>
                </a:solidFill>
                <a:latin typeface="Noto Sans"/>
              </a:defRPr>
            </a:pPr>
            <a: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5" y="3319272"/>
            <a:ext cx="136245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536075"/>
                </a:solidFill>
                <a:latin typeface="Noto Sans"/>
              </a:defRPr>
            </a:pPr>
            <a:r>
              <a:t>OpenShell sandbox with explicit policy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7" y="2194560"/>
            <a:ext cx="1609344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3682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796F"/>
                </a:solidFill>
                <a:latin typeface="Noto San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852928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72237"/>
                </a:solidFill>
                <a:latin typeface="Noto Sans"/>
              </a:defRPr>
            </a:pPr>
            <a: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319272"/>
            <a:ext cx="136245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536075"/>
                </a:solidFill>
                <a:latin typeface="Noto Sans"/>
              </a:defRPr>
            </a:pPr>
            <a:r>
              <a:t>Rescan results and preserve an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237"/>
                </a:solidFill>
                <a:latin typeface="Noto Sans"/>
              </a:defRPr>
            </a:pPr>
            <a:r>
              <a:t>Everything important stays on the Dell Pro Max with GB10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57276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70078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36075"/>
                </a:solidFill>
                <a:latin typeface="Noto Sans"/>
              </a:defRPr>
            </a:pPr>
            <a:r>
              <a:t>128 GB unified memory supports the local model and full application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75688"/>
            <a:ext cx="813816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2237"/>
                </a:solidFill>
                <a:latin typeface="Noto Sans"/>
              </a:defRPr>
            </a:pPr>
            <a:r>
              <a:t>SECCLAW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2212848"/>
            <a:ext cx="543153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536075"/>
                </a:solidFill>
                <a:latin typeface="Noto Sans"/>
              </a:defRPr>
            </a:pPr>
            <a:r>
              <a:t>Next.js  •  PostgreSQL  •  structured audit timeline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813816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26079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2237"/>
                </a:solidFill>
                <a:latin typeface="Noto Sans"/>
              </a:defRPr>
            </a:pPr>
            <a:r>
              <a:t>AGENT +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926079"/>
            <a:ext cx="543153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536075"/>
                </a:solidFill>
                <a:latin typeface="Noto Sans"/>
              </a:defRPr>
            </a:pPr>
            <a:r>
              <a:t>Scoped tools  •  approval gate  •  plan hashing  •  rollback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02152"/>
            <a:ext cx="8138160" cy="557784"/>
          </a:xfrm>
          <a:prstGeom prst="roundRect">
            <a:avLst/>
          </a:prstGeom>
          <a:solidFill>
            <a:srgbClr val="DCF4ED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39312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2237"/>
                </a:solidFill>
                <a:latin typeface="Noto Sans"/>
              </a:defRPr>
            </a:pPr>
            <a:r>
              <a:t>LOCAL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639312"/>
            <a:ext cx="543153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536075"/>
                </a:solidFill>
                <a:latin typeface="Noto Sans"/>
              </a:defRPr>
            </a:pPr>
            <a:r>
              <a:t>gpt-oss-120b via vLLM  •  no cloud LLM calls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15383"/>
            <a:ext cx="813816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52544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2237"/>
                </a:solidFill>
                <a:latin typeface="Noto Sans"/>
              </a:defRPr>
            </a:pPr>
            <a:r>
              <a:t>GUARDED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4352544"/>
            <a:ext cx="543153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536075"/>
                </a:solidFill>
                <a:latin typeface="Noto Sans"/>
              </a:defRPr>
            </a:pPr>
            <a:r>
              <a:t>OpenShell sandbox  •  read-only inventory  •  network policy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237"/>
                </a:solidFill>
                <a:latin typeface="Noto Sans"/>
              </a:defRPr>
            </a:pPr>
            <a:r>
              <a:t>From exposed service to verified 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9844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2646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36075"/>
                </a:solidFill>
                <a:latin typeface="Noto Sans"/>
              </a:defRPr>
            </a:pPr>
            <a:r>
              <a:t>The walkthrough shows the working system, including the refusal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874519"/>
            <a:ext cx="466344" cy="438912"/>
          </a:xfrm>
          <a:prstGeom prst="roundRect">
            <a:avLst/>
          </a:prstGeom>
          <a:solidFill>
            <a:srgbClr val="DCF4ED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933955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476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237"/>
                </a:solidFill>
                <a:latin typeface="Noto Sans"/>
              </a:defRPr>
            </a:pPr>
            <a: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947672"/>
            <a:ext cx="5989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536075"/>
                </a:solidFill>
                <a:latin typeface="Noto Sans"/>
              </a:defRPr>
            </a:pPr>
            <a:r>
              <a:t>Admin authorizes a host, ports, time window, and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2468879"/>
            <a:ext cx="466344" cy="438912"/>
          </a:xfrm>
          <a:prstGeom prst="roundRect">
            <a:avLst/>
          </a:prstGeom>
          <a:solidFill>
            <a:srgbClr val="DCF4ED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528315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420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237"/>
                </a:solidFill>
                <a:latin typeface="Noto Sans"/>
              </a:defRPr>
            </a:pPr>
            <a: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542032"/>
            <a:ext cx="5989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536075"/>
                </a:solidFill>
                <a:latin typeface="Noto Sans"/>
              </a:defRPr>
            </a:pPr>
            <a:r>
              <a:t>SecClaw finds an exposed service and preserves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3063239"/>
            <a:ext cx="466344" cy="438912"/>
          </a:xfrm>
          <a:prstGeom prst="roundRect">
            <a:avLst/>
          </a:prstGeom>
          <a:solidFill>
            <a:srgbClr val="DCF4ED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3122675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36391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237"/>
                </a:solidFill>
                <a:latin typeface="Noto Sans"/>
              </a:defRPr>
            </a:pPr>
            <a:r>
              <a:t>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3136391"/>
            <a:ext cx="5989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536075"/>
                </a:solidFill>
                <a:latin typeface="Noto Sans"/>
              </a:defRPr>
            </a:pPr>
            <a:r>
              <a:t>Local gpt-oss-120b proposes safe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" y="3657600"/>
            <a:ext cx="466344" cy="438912"/>
          </a:xfrm>
          <a:prstGeom prst="roundRect">
            <a:avLst/>
          </a:prstGeom>
          <a:solidFill>
            <a:srgbClr val="DCF4ED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71703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307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237"/>
                </a:solidFill>
                <a:latin typeface="Noto Sans"/>
              </a:defRPr>
            </a:pPr>
            <a:r>
              <a:t>Approve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3730752"/>
            <a:ext cx="5989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536075"/>
                </a:solidFill>
                <a:latin typeface="Noto Sans"/>
              </a:defRPr>
            </a:pPr>
            <a:r>
              <a:t>A human reviews the change summary and plan hash.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4251960"/>
            <a:ext cx="466344" cy="438912"/>
          </a:xfrm>
          <a:prstGeom prst="roundRect">
            <a:avLst/>
          </a:prstGeom>
          <a:solidFill>
            <a:srgbClr val="DCF4ED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31139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2511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237"/>
                </a:solidFill>
                <a:latin typeface="Noto Sans"/>
              </a:defRPr>
            </a:pPr>
            <a:r>
              <a:t>Act +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4325112"/>
            <a:ext cx="5989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536075"/>
                </a:solidFill>
                <a:latin typeface="Noto Sans"/>
              </a:defRPr>
            </a:pPr>
            <a:r>
              <a:t>OpenShell acts under policy; a rescan confirms the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SECClaw live product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237"/>
                </a:solidFill>
                <a:latin typeface="Noto Sans"/>
              </a:defRPr>
            </a:pPr>
            <a:r>
              <a:t>Auditable Scan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9844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234440"/>
            <a:ext cx="3950208" cy="3621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ns-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25880"/>
            <a:ext cx="3767328" cy="3438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36592" y="1481328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148132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Manual, imported, and scheduled scans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432304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432304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Responding hosts and service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3383280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33832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Every completed result persists to 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9744" y="4535424"/>
            <a:ext cx="3785615" cy="356616"/>
          </a:xfrm>
          <a:prstGeom prst="roundRect">
            <a:avLst/>
          </a:prstGeom>
          <a:solidFill>
            <a:srgbClr val="E2F6F7"/>
          </a:solidFill>
          <a:ln w="12700">
            <a:solidFill>
              <a:srgbClr val="E2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460857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1796F"/>
                </a:solidFill>
                <a:latin typeface="Noto Sans"/>
              </a:defRPr>
            </a:pPr>
            <a:r>
              <a:t>LOCAL FIRST  •  POLICY GOVERNED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237"/>
                </a:solidFill>
                <a:latin typeface="Noto Sans"/>
              </a:defRPr>
            </a:pPr>
            <a:r>
              <a:t>A security analyst in a box, with humans in charge.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9844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2646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36075"/>
                </a:solidFill>
                <a:latin typeface="Noto Sans"/>
              </a:defRPr>
            </a:pPr>
            <a:r>
              <a:t>Reduce time to understand and remediate while preserving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2185416"/>
            <a:ext cx="264261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2313432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633472"/>
            <a:ext cx="23500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237"/>
                </a:solidFill>
                <a:latin typeface="Noto Sans"/>
              </a:defRPr>
            </a:pPr>
            <a:r>
              <a:t>Private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200400"/>
            <a:ext cx="2350008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36075"/>
                </a:solidFill>
                <a:latin typeface="Noto Sans"/>
              </a:defRPr>
            </a:pPr>
            <a:r>
              <a:t>Infrastructure evidence and inference remain on premises.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5264" y="2185416"/>
            <a:ext cx="264261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2313432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633472"/>
            <a:ext cx="23500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237"/>
                </a:solidFill>
                <a:latin typeface="Noto Sans"/>
              </a:defRPr>
            </a:pPr>
            <a:r>
              <a:t>Approval gated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3200400"/>
            <a:ext cx="2350008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36075"/>
                </a:solidFill>
                <a:latin typeface="Noto Sans"/>
              </a:defRPr>
            </a:pPr>
            <a:r>
              <a:t>Every state change is scoped, time bound, and auditable.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2185416"/>
            <a:ext cx="2642616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13432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33472"/>
            <a:ext cx="23500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237"/>
                </a:solidFill>
                <a:latin typeface="Noto Sans"/>
              </a:defRPr>
            </a:pPr>
            <a:r>
              <a:t>One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00400"/>
            <a:ext cx="2350008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36075"/>
                </a:solidFill>
                <a:latin typeface="Noto Sans"/>
              </a:defRPr>
            </a:pPr>
            <a:r>
              <a:t>Discovery, explanation, verification, and rollback live in one place.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SECClaw live product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237"/>
                </a:solidFill>
                <a:latin typeface="Noto Sans"/>
              </a:defRPr>
            </a:pPr>
            <a:r>
              <a:t>Device Discovery &amp;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9844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234440"/>
            <a:ext cx="3950208" cy="3621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vices-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25880"/>
            <a:ext cx="3767328" cy="3438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36592" y="1481328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148132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mDNS hostnames and advertised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432304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432304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19 device unified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3383280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33832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One click remediation and SSH 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9744" y="4535424"/>
            <a:ext cx="3785615" cy="356616"/>
          </a:xfrm>
          <a:prstGeom prst="roundRect">
            <a:avLst/>
          </a:prstGeom>
          <a:solidFill>
            <a:srgbClr val="E2F6F7"/>
          </a:solidFill>
          <a:ln w="12700">
            <a:solidFill>
              <a:srgbClr val="E2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460857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1796F"/>
                </a:solidFill>
                <a:latin typeface="Noto Sans"/>
              </a:defRPr>
            </a:pPr>
            <a:r>
              <a:t>LOCAL FIRST  •  POLICY GOVERNED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46888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1796F"/>
                </a:solidFill>
                <a:latin typeface="Noto Sans"/>
              </a:defRPr>
            </a:pPr>
            <a:r>
              <a:t>SECClaw live product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237"/>
                </a:solidFill>
                <a:latin typeface="Noto Sans"/>
              </a:defRPr>
            </a:pPr>
            <a:r>
              <a:t>OpenShell Governed SSH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1298448"/>
            <a:ext cx="1234440" cy="22860"/>
          </a:xfrm>
          <a:prstGeom prst="rect">
            <a:avLst/>
          </a:prstGeom>
          <a:solidFill>
            <a:srgbClr val="11796F"/>
          </a:solidFill>
          <a:ln w="12700">
            <a:solidFill>
              <a:srgbClr val="11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234440"/>
            <a:ext cx="3950208" cy="3621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enshell-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25880"/>
            <a:ext cx="3767328" cy="3438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36592" y="1481328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148132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Gateway connected with mTLS 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432304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432304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Sandbox ready under accepted policy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3383280"/>
            <a:ext cx="246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796F"/>
                </a:solidFill>
                <a:latin typeface="Noto San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33832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237"/>
                </a:solidFill>
                <a:latin typeface="Noto Sans"/>
              </a:defRPr>
            </a:pPr>
            <a:r>
              <a:t>Configured SSH target: 192.168.43.161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9744" y="4535424"/>
            <a:ext cx="3785615" cy="356616"/>
          </a:xfrm>
          <a:prstGeom prst="roundRect">
            <a:avLst/>
          </a:prstGeom>
          <a:solidFill>
            <a:srgbClr val="E2F6F7"/>
          </a:solidFill>
          <a:ln w="12700">
            <a:solidFill>
              <a:srgbClr val="E2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460857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1796F"/>
                </a:solidFill>
                <a:latin typeface="Noto Sans"/>
              </a:defRPr>
            </a:pPr>
            <a:r>
              <a:t>LOCAL FIRST  •  POLICY GOVERNED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